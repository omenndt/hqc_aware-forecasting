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8"/>
    <p:sldId id="276" r:id="rId17"/>
    <p:sldId id="277" r:id="rId7"/>
    <p:sldId id="278" r:id="rId19"/>
    <p:sldId id="279" r:id="rId20"/>
    <p:sldId id="280" r:id="rId21"/>
    <p:sldId id="281" r:id="rId22"/>
    <p:sldId id="282" r:id="rId23"/>
    <p:sldId id="283" r:id="rId24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WrsuzXCNNBJSkKBNBLw/qA4qB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13.xml"/><Relationship Id="rId8" Type="http://schemas.openxmlformats.org/officeDocument/2006/relationships/slide" Target="slides/slide11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3.xml"/><Relationship Id="rId17" Type="http://schemas.openxmlformats.org/officeDocument/2006/relationships/slide" Target="slides/slide12.xml"/><Relationship Id="rId18" Type="http://customschemas.google.com/relationships/presentationmetadata" Target="metadata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">
  <p:cSld name="Tiêu đề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" name="Google Shape;19;p1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0" name="Google Shape;20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" name="Google Shape;23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oogle Shape;24;p1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25" name="Google Shape;25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8" name="Google Shape;28;p15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5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30" name="Google Shape;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vi-VN" sz="1400" u="none" cap="none" strike="noStrik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4400"/>
              <a:buNone/>
              <a:defRPr b="1" sz="4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  <a:defRPr b="1" sz="28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1200"/>
              <a:buNone/>
              <a:defRPr sz="12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15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2" name="Google Shape;42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" name="Google Shape;43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" name="Google Shape;44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" name="Google Shape;45;p1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" name="Google Shape;46;p15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7" name="Google Shape;47;p1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" name="Google Shape;48;p1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" name="Google Shape;49;p1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" name="Google Shape;50;p15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5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ục lục">
  <p:cSld name="2_Mục lục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16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57" name="Google Shape;57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6"/>
          <p:cNvGrpSpPr/>
          <p:nvPr/>
        </p:nvGrpSpPr>
        <p:grpSpPr>
          <a:xfrm>
            <a:off x="-1259888" y="1121391"/>
            <a:ext cx="4841288" cy="5054000"/>
            <a:chOff x="-1259888" y="901609"/>
            <a:chExt cx="4841288" cy="5054000"/>
          </a:xfrm>
        </p:grpSpPr>
        <p:grpSp>
          <p:nvGrpSpPr>
            <p:cNvPr id="62" name="Google Shape;62;p16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3" name="Google Shape;63;p16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6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6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6" name="Google Shape;66;p16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16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8" name="Google Shape;68;p16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6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1" name="Google Shape;71;p16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16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73" name="Google Shape;73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" name="Google Shape;77;p16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" name="Google Shape;82;p16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83" name="Google Shape;83;p16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6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6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16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16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88" name="Google Shape;88;p16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6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6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1" name="Google Shape;91;p16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" name="Google Shape;92;p16"/>
          <p:cNvGrpSpPr/>
          <p:nvPr/>
        </p:nvGrpSpPr>
        <p:grpSpPr>
          <a:xfrm flipH="1">
            <a:off x="8607643" y="1121391"/>
            <a:ext cx="4841288" cy="5054000"/>
            <a:chOff x="-1259888" y="901609"/>
            <a:chExt cx="4841288" cy="5054000"/>
          </a:xfrm>
        </p:grpSpPr>
        <p:grpSp>
          <p:nvGrpSpPr>
            <p:cNvPr id="93" name="Google Shape;93;p16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94" name="Google Shape;94;p16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6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6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7" name="Google Shape;97;p16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16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99" name="Google Shape;99;p16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6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6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2" name="Google Shape;102;p16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" name="Google Shape;103;p16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04" name="Google Shape;104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8" name="Google Shape;108;p16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" name="Google Shape;110;p16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6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6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" name="Google Shape;113;p16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114" name="Google Shape;114;p16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6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6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7" name="Google Shape;117;p16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16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119" name="Google Shape;119;p16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6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6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2" name="Google Shape;122;p16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0" scaled="0"/>
              </a:gradFill>
              <a:ln cap="rnd" cmpd="sng" w="9525">
                <a:solidFill>
                  <a:srgbClr val="007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" name="Google Shape;123;p16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/>
          </a:p>
        </p:txBody>
      </p:sp>
      <p:sp>
        <p:nvSpPr>
          <p:cNvPr id="126" name="Google Shape;126;p16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129" name="Google Shape;129;p1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1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A picture containing clipart, vector graphics&#10;&#10;Description automatically generated" id="132" name="Google Shape;13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" type="obj">
  <p:cSld name="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138" name="Google Shape;138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1" name="Google Shape;141;p17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74145" y="1233824"/>
            <a:ext cx="10579654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5" name="Google Shape;145;p17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146" name="Google Shape;146;p17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7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7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157" name="Google Shape;157;p17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8" name="Google Shape;158;p17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9" name="Google Shape;159;p17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ống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1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65" name="Google Shape;165;p1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6" name="Google Shape;166;p1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7" name="Google Shape;167;p1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p1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1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70" name="Google Shape;170;p1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3" name="Google Shape;173;p18"/>
          <p:cNvSpPr/>
          <p:nvPr/>
        </p:nvSpPr>
        <p:spPr>
          <a:xfrm>
            <a:off x="11926541" y="6589084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72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182" name="Google Shape;182;p18"/>
          <p:cNvSpPr txBox="1"/>
          <p:nvPr>
            <p:ph idx="10" type="dt"/>
          </p:nvPr>
        </p:nvSpPr>
        <p:spPr>
          <a:xfrm>
            <a:off x="838200" y="6481647"/>
            <a:ext cx="2148299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êu đề chương">
  <p:cSld name="3_Tiêu đề chương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84" name="Google Shape;18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" name="Google Shape;187;p19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188" name="Google Shape;188;p1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1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1" name="Google Shape;191;p19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19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193" name="Google Shape;193;p19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9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19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6" name="Google Shape;196;p19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9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9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01" name="Google Shape;201;p19"/>
          <p:cNvSpPr/>
          <p:nvPr>
            <p:ph idx="1" type="body"/>
          </p:nvPr>
        </p:nvSpPr>
        <p:spPr>
          <a:xfrm>
            <a:off x="1704109" y="3019167"/>
            <a:ext cx="4583866" cy="1439258"/>
          </a:xfrm>
          <a:prstGeom prst="roundRect">
            <a:avLst>
              <a:gd fmla="val 2631" name="adj"/>
            </a:avLst>
          </a:prstGeom>
          <a:solidFill>
            <a:srgbClr val="F2F2F2"/>
          </a:solidFill>
          <a:ln cap="rnd" cmpd="sng" w="19050">
            <a:solidFill>
              <a:srgbClr val="00C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2FF"/>
              </a:buClr>
              <a:buSzPts val="2000"/>
              <a:buNone/>
              <a:defRPr b="1" i="0" sz="2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02" name="Google Shape;202;p19"/>
          <p:cNvGrpSpPr/>
          <p:nvPr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203" name="Google Shape;203;p19"/>
            <p:cNvCxnSpPr/>
            <p:nvPr/>
          </p:nvCxnSpPr>
          <p:spPr>
            <a:xfrm>
              <a:off x="-349411" y="1986636"/>
              <a:ext cx="6360520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9"/>
            <p:cNvCxnSpPr/>
            <p:nvPr/>
          </p:nvCxnSpPr>
          <p:spPr>
            <a:xfrm flipH="1" rot="10800000">
              <a:off x="6011109" y="1480500"/>
              <a:ext cx="591405" cy="506136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9"/>
            <p:cNvCxnSpPr/>
            <p:nvPr/>
          </p:nvCxnSpPr>
          <p:spPr>
            <a:xfrm>
              <a:off x="6602514" y="1480500"/>
              <a:ext cx="1378423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19"/>
            <p:cNvSpPr/>
            <p:nvPr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9"/>
          <p:cNvSpPr/>
          <p:nvPr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0"/>
          </a:gradFill>
          <a:ln cap="flat" cmpd="sng" w="12700">
            <a:solidFill>
              <a:srgbClr val="00C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>
            <p:ph idx="2" type="pic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</p:sp>
      <p:sp>
        <p:nvSpPr>
          <p:cNvPr id="209" name="Google Shape;209;p19"/>
          <p:cNvSpPr txBox="1"/>
          <p:nvPr>
            <p:ph idx="3" type="body"/>
          </p:nvPr>
        </p:nvSpPr>
        <p:spPr>
          <a:xfrm>
            <a:off x="2711214" y="2263753"/>
            <a:ext cx="3576761" cy="622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3600"/>
              <a:buNone/>
              <a:defRPr b="1" sz="36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ục lục">
  <p:cSld name="1_Mục lục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213" name="Google Shape;213;p2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6" name="Google Shape;216;p20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7" name="Google Shape;217;p20"/>
          <p:cNvGrpSpPr/>
          <p:nvPr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218" name="Google Shape;218;p20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19" name="Google Shape;219;p20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20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2" name="Google Shape;222;p20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20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24" name="Google Shape;224;p20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20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20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27" name="Google Shape;227;p20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20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0" name="Google Shape;230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33" name="Google Shape;233;p20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5" name="Google Shape;235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38" name="Google Shape;238;p20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39" name="Google Shape;239;p20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20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20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2" name="Google Shape;242;p20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20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44" name="Google Shape;244;p20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20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20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7" name="Google Shape;247;p20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8" name="Google Shape;248;p20"/>
          <p:cNvGrpSpPr/>
          <p:nvPr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1566123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 flipH="1" rot="10800000">
                <a:off x="2520285" y="1059987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20"/>
              <p:cNvCxnSpPr/>
              <p:nvPr/>
            </p:nvCxnSpPr>
            <p:spPr>
              <a:xfrm>
                <a:off x="3111690" y="1059987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3" name="Google Shape;253;p20"/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20"/>
            <p:cNvGrpSpPr/>
            <p:nvPr/>
          </p:nvGrpSpPr>
          <p:grpSpPr>
            <a:xfrm flipH="1" rot="10800000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255" name="Google Shape;255;p20"/>
              <p:cNvCxnSpPr/>
              <p:nvPr/>
            </p:nvCxnSpPr>
            <p:spPr>
              <a:xfrm>
                <a:off x="0" y="1897039"/>
                <a:ext cx="253393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20"/>
              <p:cNvCxnSpPr/>
              <p:nvPr/>
            </p:nvCxnSpPr>
            <p:spPr>
              <a:xfrm flipH="1" rot="10800000">
                <a:off x="2520285" y="1390903"/>
                <a:ext cx="591405" cy="506136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20"/>
              <p:cNvCxnSpPr/>
              <p:nvPr/>
            </p:nvCxnSpPr>
            <p:spPr>
              <a:xfrm>
                <a:off x="3111690" y="1390903"/>
                <a:ext cx="13784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8" name="Google Shape;258;p20"/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20"/>
            <p:cNvGrpSpPr/>
            <p:nvPr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1" name="Google Shape;261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4" name="Google Shape;264;p20"/>
            <p:cNvGrpSpPr/>
            <p:nvPr/>
          </p:nvGrpSpPr>
          <p:grpSpPr>
            <a:xfrm flipH="1" rot="10800000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65" name="Google Shape;265;p20"/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6" name="Google Shape;266;p20"/>
              <p:cNvCxnSpPr/>
              <p:nvPr/>
            </p:nvCxnSpPr>
            <p:spPr>
              <a:xfrm>
                <a:off x="-1" y="2407907"/>
                <a:ext cx="1985654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 flipH="1" rot="10800000">
                <a:off x="1974958" y="2019015"/>
                <a:ext cx="463440" cy="388892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0"/>
              <p:cNvCxnSpPr/>
              <p:nvPr/>
            </p:nvCxnSpPr>
            <p:spPr>
              <a:xfrm>
                <a:off x="2438398" y="2019015"/>
                <a:ext cx="1080167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69" name="Google Shape;269;p20"/>
            <p:cNvGrpSpPr/>
            <p:nvPr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0" name="Google Shape;270;p20"/>
              <p:cNvCxnSpPr/>
              <p:nvPr/>
            </p:nvCxnSpPr>
            <p:spPr>
              <a:xfrm>
                <a:off x="-26865" y="3151921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1" name="Google Shape;271;p20"/>
              <p:cNvCxnSpPr/>
              <p:nvPr/>
            </p:nvCxnSpPr>
            <p:spPr>
              <a:xfrm flipH="1" rot="10800000">
                <a:off x="1368303" y="2877197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0"/>
              <p:cNvCxnSpPr/>
              <p:nvPr/>
            </p:nvCxnSpPr>
            <p:spPr>
              <a:xfrm>
                <a:off x="1695690" y="2877197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3" name="Google Shape;273;p20"/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4" name="Google Shape;274;p20"/>
            <p:cNvGrpSpPr/>
            <p:nvPr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275" name="Google Shape;275;p20"/>
              <p:cNvCxnSpPr/>
              <p:nvPr/>
            </p:nvCxnSpPr>
            <p:spPr>
              <a:xfrm>
                <a:off x="-34420" y="3843718"/>
                <a:ext cx="1402723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6" name="Google Shape;276;p20"/>
              <p:cNvCxnSpPr/>
              <p:nvPr/>
            </p:nvCxnSpPr>
            <p:spPr>
              <a:xfrm>
                <a:off x="1360748" y="3843718"/>
                <a:ext cx="327387" cy="274724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7" name="Google Shape;277;p20"/>
              <p:cNvCxnSpPr/>
              <p:nvPr/>
            </p:nvCxnSpPr>
            <p:spPr>
              <a:xfrm>
                <a:off x="1688135" y="4118442"/>
                <a:ext cx="763061" cy="0"/>
              </a:xfrm>
              <a:prstGeom prst="straightConnector1">
                <a:avLst/>
              </a:prstGeom>
              <a:noFill/>
              <a:ln cap="rnd" cmpd="sng" w="38100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8" name="Google Shape;278;p20"/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0"/>
              </a:gradFill>
              <a:ln cap="rnd" cmpd="sng" w="9525">
                <a:solidFill>
                  <a:srgbClr val="0072FF">
                    <a:alpha val="40000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9" name="Google Shape;279;p20"/>
          <p:cNvSpPr/>
          <p:nvPr/>
        </p:nvSpPr>
        <p:spPr>
          <a:xfrm>
            <a:off x="82718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/>
          <p:nvPr>
            <p:ph idx="12" type="sldNum"/>
          </p:nvPr>
        </p:nvSpPr>
        <p:spPr>
          <a:xfrm>
            <a:off x="58527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2033899" y="1559014"/>
            <a:ext cx="8124204" cy="4153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20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20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285" name="Google Shape;285;p20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6" name="Google Shape;286;p20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87" name="Google Shape;287;p20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88" name="Google Shape;288;p20"/>
          <p:cNvSpPr txBox="1"/>
          <p:nvPr>
            <p:ph idx="10" type="dt"/>
          </p:nvPr>
        </p:nvSpPr>
        <p:spPr>
          <a:xfrm>
            <a:off x="796022" y="6454635"/>
            <a:ext cx="2132276" cy="26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0"/>
          <p:cNvSpPr txBox="1"/>
          <p:nvPr>
            <p:ph idx="2" type="body"/>
          </p:nvPr>
        </p:nvSpPr>
        <p:spPr>
          <a:xfrm>
            <a:off x="4859729" y="734646"/>
            <a:ext cx="2714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20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êu đề chương">
  <p:cSld name="Tiêu đề chương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92" name="Google Shape;29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/>
          <p:nvPr/>
        </p:nvSpPr>
        <p:spPr>
          <a:xfrm>
            <a:off x="-1" y="-3113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296" name="Google Shape;296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7" name="Google Shape;297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8" name="Google Shape;298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99" name="Google Shape;299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01" name="Google Shape;301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4" name="Google Shape;304;p2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>
            <p:ph idx="1" type="body"/>
          </p:nvPr>
        </p:nvSpPr>
        <p:spPr>
          <a:xfrm>
            <a:off x="1470929" y="2095027"/>
            <a:ext cx="9941071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21"/>
          <p:cNvSpPr txBox="1"/>
          <p:nvPr>
            <p:ph idx="2" type="body"/>
          </p:nvPr>
        </p:nvSpPr>
        <p:spPr>
          <a:xfrm>
            <a:off x="1470930" y="3169159"/>
            <a:ext cx="9941070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7" name="Google Shape;307;p21"/>
          <p:cNvSpPr txBox="1"/>
          <p:nvPr>
            <p:ph idx="3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21"/>
          <p:cNvSpPr txBox="1"/>
          <p:nvPr>
            <p:ph idx="4" type="body"/>
          </p:nvPr>
        </p:nvSpPr>
        <p:spPr>
          <a:xfrm>
            <a:off x="8896576" y="5231902"/>
            <a:ext cx="2521280" cy="1577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12000"/>
              <a:buNone/>
              <a:defRPr b="1" sz="120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09" name="Google Shape;309;p21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21"/>
          <p:cNvSpPr txBox="1"/>
          <p:nvPr>
            <p:ph idx="10" type="dt"/>
          </p:nvPr>
        </p:nvSpPr>
        <p:spPr>
          <a:xfrm>
            <a:off x="6060300" y="6481647"/>
            <a:ext cx="2090098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1"/>
          <p:cNvSpPr txBox="1"/>
          <p:nvPr>
            <p:ph idx="11" type="ftr"/>
          </p:nvPr>
        </p:nvSpPr>
        <p:spPr>
          <a:xfrm>
            <a:off x="838200" y="6481647"/>
            <a:ext cx="447592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2" name="Google Shape;312;p21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13" name="Google Shape;313;p21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21"/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 txBox="1"/>
          <p:nvPr>
            <p:ph idx="12" type="sldNum"/>
          </p:nvPr>
        </p:nvSpPr>
        <p:spPr>
          <a:xfrm>
            <a:off x="6586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descr="Background pattern&#10;&#10;Description automatically generated" id="321" name="Google Shape;3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12192001" cy="685488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6026" y="4629289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16026" y="5005641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16026" y="5381993"/>
            <a:ext cx="434350" cy="346950"/>
          </a:xfrm>
          <a:prstGeom prst="rect">
            <a:avLst/>
          </a:prstGeom>
          <a:solidFill>
            <a:srgbClr val="00F7FF"/>
          </a:solidFill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6026" y="5758345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16026" y="6134697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16026" y="6511050"/>
            <a:ext cx="434350" cy="346950"/>
          </a:xfrm>
          <a:prstGeom prst="rect">
            <a:avLst/>
          </a:prstGeom>
          <a:noFill/>
          <a:ln cap="flat" cmpd="sng" w="12700">
            <a:solidFill>
              <a:srgbClr val="00F7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331" name="Google Shape;331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F7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34" name="Google Shape;334;p21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F7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21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336" name="Google Shape;336;p21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21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" name="Google Shape;338;p21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F7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9" name="Google Shape;339;p21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>
            <p:ph idx="5" type="sldNum"/>
          </p:nvPr>
        </p:nvSpPr>
        <p:spPr>
          <a:xfrm>
            <a:off x="11899392" y="6542216"/>
            <a:ext cx="292608" cy="315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341" name="Google Shape;341;p21"/>
          <p:cNvSpPr txBox="1"/>
          <p:nvPr>
            <p:ph idx="6" type="body"/>
          </p:nvPr>
        </p:nvSpPr>
        <p:spPr>
          <a:xfrm>
            <a:off x="1470930" y="2095027"/>
            <a:ext cx="6264164" cy="884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F7FF"/>
              </a:buClr>
              <a:buSzPts val="4400"/>
              <a:buNone/>
              <a:defRPr b="1" sz="4400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21"/>
          <p:cNvSpPr txBox="1"/>
          <p:nvPr>
            <p:ph idx="7" type="body"/>
          </p:nvPr>
        </p:nvSpPr>
        <p:spPr>
          <a:xfrm>
            <a:off x="1470930" y="3169159"/>
            <a:ext cx="8913813" cy="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21"/>
          <p:cNvSpPr txBox="1"/>
          <p:nvPr>
            <p:ph idx="8" type="body"/>
          </p:nvPr>
        </p:nvSpPr>
        <p:spPr>
          <a:xfrm>
            <a:off x="1470930" y="4137397"/>
            <a:ext cx="7147030" cy="91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000"/>
              <a:buNone/>
              <a:defRPr sz="10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44" name="Google Shape;344;p21"/>
          <p:cNvCxnSpPr/>
          <p:nvPr/>
        </p:nvCxnSpPr>
        <p:spPr>
          <a:xfrm>
            <a:off x="1574156" y="2979683"/>
            <a:ext cx="3565003" cy="0"/>
          </a:xfrm>
          <a:prstGeom prst="straightConnector1">
            <a:avLst/>
          </a:prstGeom>
          <a:noFill/>
          <a:ln cap="rnd" cmpd="sng" w="25400">
            <a:solidFill>
              <a:srgbClr val="00F7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1">
  <p:cSld name="So sanh 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8" name="Google Shape;348;p22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49" name="Google Shape;349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" name="Google Shape;351;p2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2" name="Google Shape;352;p22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>
            <p:ph idx="1" type="body"/>
          </p:nvPr>
        </p:nvSpPr>
        <p:spPr>
          <a:xfrm>
            <a:off x="774144" y="1233825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22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5" name="Google Shape;355;p22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56" name="Google Shape;356;p22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2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22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366" name="Google Shape;366;p22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67" name="Google Shape;367;p22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0" name="Google Shape;370;p22"/>
          <p:cNvSpPr txBox="1"/>
          <p:nvPr>
            <p:ph idx="2" type="body"/>
          </p:nvPr>
        </p:nvSpPr>
        <p:spPr>
          <a:xfrm>
            <a:off x="6151800" y="1228490"/>
            <a:ext cx="5202000" cy="4943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22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 sanh 2">
  <p:cSld name="So sanh 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23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376" name="Google Shape;376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23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 txBox="1"/>
          <p:nvPr>
            <p:ph idx="1" type="body"/>
          </p:nvPr>
        </p:nvSpPr>
        <p:spPr>
          <a:xfrm>
            <a:off x="774144" y="1962615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p23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23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383" name="Google Shape;383;p23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23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3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3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393" name="Google Shape;393;p23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394" name="Google Shape;394;p23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23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23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7" name="Google Shape;397;p23"/>
          <p:cNvSpPr txBox="1"/>
          <p:nvPr>
            <p:ph idx="2" type="body"/>
          </p:nvPr>
        </p:nvSpPr>
        <p:spPr>
          <a:xfrm>
            <a:off x="6151800" y="1957280"/>
            <a:ext cx="5202000" cy="4214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23"/>
          <p:cNvSpPr txBox="1"/>
          <p:nvPr>
            <p:ph idx="3" type="body"/>
          </p:nvPr>
        </p:nvSpPr>
        <p:spPr>
          <a:xfrm>
            <a:off x="774144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23"/>
          <p:cNvSpPr txBox="1"/>
          <p:nvPr>
            <p:ph idx="4" type="body"/>
          </p:nvPr>
        </p:nvSpPr>
        <p:spPr>
          <a:xfrm>
            <a:off x="6151006" y="1233825"/>
            <a:ext cx="5202794" cy="504825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23"/>
          <p:cNvSpPr txBox="1"/>
          <p:nvPr>
            <p:ph type="title"/>
          </p:nvPr>
        </p:nvSpPr>
        <p:spPr>
          <a:xfrm>
            <a:off x="774145" y="223964"/>
            <a:ext cx="10579655" cy="785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i dung 2">
  <p:cSld name="Noi dung 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" name="Google Shape;404;p24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05" name="Google Shape;405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6" name="Google Shape;406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7" name="Google Shape;407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8" name="Google Shape;408;p24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24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24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12" name="Google Shape;412;p24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13" name="Google Shape;413;p24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9" name="Google Shape;419;p24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4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423" name="Google Shape;423;p24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24" name="Google Shape;424;p24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p24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24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7" name="Google Shape;427;p24"/>
          <p:cNvSpPr txBox="1"/>
          <p:nvPr>
            <p:ph idx="2" type="body"/>
          </p:nvPr>
        </p:nvSpPr>
        <p:spPr>
          <a:xfrm>
            <a:off x="5085934" y="202009"/>
            <a:ext cx="6267866" cy="59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ình ảnh">
  <p:cSld name="Hình ảnh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 rot="10800000">
            <a:off x="-2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1" name="Google Shape;431;p25"/>
          <p:cNvGrpSpPr/>
          <p:nvPr/>
        </p:nvGrpSpPr>
        <p:grpSpPr>
          <a:xfrm>
            <a:off x="58527" y="54292"/>
            <a:ext cx="2869771" cy="1563379"/>
            <a:chOff x="44879" y="27296"/>
            <a:chExt cx="2869771" cy="1563379"/>
          </a:xfrm>
        </p:grpSpPr>
        <p:cxnSp>
          <p:nvCxnSpPr>
            <p:cNvPr id="432" name="Google Shape;432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3" name="Google Shape;433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4" name="Google Shape;434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5" name="Google Shape;435;p25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 txBox="1"/>
          <p:nvPr>
            <p:ph type="title"/>
          </p:nvPr>
        </p:nvSpPr>
        <p:spPr>
          <a:xfrm>
            <a:off x="774146" y="202009"/>
            <a:ext cx="3932227" cy="1698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sz="4000"/>
            </a:lvl1pPr>
            <a:lvl2pPr lvl="1"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25"/>
          <p:cNvSpPr txBox="1"/>
          <p:nvPr>
            <p:ph idx="1" type="body"/>
          </p:nvPr>
        </p:nvSpPr>
        <p:spPr>
          <a:xfrm>
            <a:off x="774144" y="2113808"/>
            <a:ext cx="3932227" cy="4063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25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9" name="Google Shape;439;p25"/>
          <p:cNvGrpSpPr/>
          <p:nvPr/>
        </p:nvGrpSpPr>
        <p:grpSpPr>
          <a:xfrm>
            <a:off x="16026" y="4629289"/>
            <a:ext cx="434350" cy="2228711"/>
            <a:chOff x="16026" y="4629289"/>
            <a:chExt cx="434350" cy="2228711"/>
          </a:xfrm>
        </p:grpSpPr>
        <p:sp>
          <p:nvSpPr>
            <p:cNvPr id="440" name="Google Shape;440;p25"/>
            <p:cNvSpPr/>
            <p:nvPr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5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5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 txBox="1"/>
          <p:nvPr>
            <p:ph idx="12" type="sldNum"/>
          </p:nvPr>
        </p:nvSpPr>
        <p:spPr>
          <a:xfrm>
            <a:off x="58380" y="6508358"/>
            <a:ext cx="349642" cy="349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grpSp>
        <p:nvGrpSpPr>
          <p:cNvPr id="450" name="Google Shape;450;p25"/>
          <p:cNvGrpSpPr/>
          <p:nvPr/>
        </p:nvGrpSpPr>
        <p:grpSpPr>
          <a:xfrm rot="10800000">
            <a:off x="9265363" y="5246044"/>
            <a:ext cx="2869771" cy="1563379"/>
            <a:chOff x="44879" y="27296"/>
            <a:chExt cx="2869771" cy="1563379"/>
          </a:xfrm>
        </p:grpSpPr>
        <p:cxnSp>
          <p:nvCxnSpPr>
            <p:cNvPr id="451" name="Google Shape;451;p25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25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25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4" name="Google Shape;454;p25"/>
          <p:cNvSpPr/>
          <p:nvPr>
            <p:ph idx="2" type="pic"/>
          </p:nvPr>
        </p:nvSpPr>
        <p:spPr>
          <a:xfrm>
            <a:off x="5160373" y="202009"/>
            <a:ext cx="6237261" cy="5976999"/>
          </a:xfrm>
          <a:prstGeom prst="roundRect">
            <a:avLst>
              <a:gd fmla="val 57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1">
  <p:cSld name="Trang trong 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7" name="Google Shape;457;p26"/>
          <p:cNvGrpSpPr/>
          <p:nvPr/>
        </p:nvGrpSpPr>
        <p:grpSpPr>
          <a:xfrm rot="10800000">
            <a:off x="9263702" y="5930537"/>
            <a:ext cx="2869771" cy="886519"/>
            <a:chOff x="44879" y="27296"/>
            <a:chExt cx="2869771" cy="886519"/>
          </a:xfrm>
        </p:grpSpPr>
        <p:cxnSp>
          <p:nvCxnSpPr>
            <p:cNvPr id="458" name="Google Shape;458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0" name="Google Shape;460;p2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61" name="Google Shape;461;p26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463" name="Google Shape;463;p26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4" name="Google Shape;464;p26"/>
          <p:cNvGrpSpPr/>
          <p:nvPr/>
        </p:nvGrpSpPr>
        <p:grpSpPr>
          <a:xfrm>
            <a:off x="58527" y="40944"/>
            <a:ext cx="2869771" cy="886519"/>
            <a:chOff x="44879" y="27296"/>
            <a:chExt cx="2869771" cy="886519"/>
          </a:xfrm>
        </p:grpSpPr>
        <p:cxnSp>
          <p:nvCxnSpPr>
            <p:cNvPr id="465" name="Google Shape;465;p26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26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26"/>
            <p:cNvCxnSpPr/>
            <p:nvPr/>
          </p:nvCxnSpPr>
          <p:spPr>
            <a:xfrm rot="10800000">
              <a:off x="52214" y="654128"/>
              <a:ext cx="0" cy="25968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26"/>
          <p:cNvSpPr/>
          <p:nvPr/>
        </p:nvSpPr>
        <p:spPr>
          <a:xfrm>
            <a:off x="11589537" y="105878"/>
            <a:ext cx="489307" cy="405155"/>
          </a:xfrm>
          <a:custGeom>
            <a:rect b="b" l="l" r="r" t="t"/>
            <a:pathLst>
              <a:path extrusionOk="0" h="405155" w="489307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 txBox="1"/>
          <p:nvPr>
            <p:ph idx="11" type="ftr"/>
          </p:nvPr>
        </p:nvSpPr>
        <p:spPr>
          <a:xfrm>
            <a:off x="774146" y="6475620"/>
            <a:ext cx="431178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26"/>
          <p:cNvSpPr txBox="1"/>
          <p:nvPr>
            <p:ph idx="10" type="dt"/>
          </p:nvPr>
        </p:nvSpPr>
        <p:spPr>
          <a:xfrm>
            <a:off x="6447446" y="6475620"/>
            <a:ext cx="2090098" cy="263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g trong 2">
  <p:cSld name="Trang trong 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/>
          <p:nvPr/>
        </p:nvSpPr>
        <p:spPr>
          <a:xfrm>
            <a:off x="22186" y="6583140"/>
            <a:ext cx="233916" cy="233916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7"/>
          <p:cNvSpPr txBox="1"/>
          <p:nvPr>
            <p:ph idx="12" type="sldNum"/>
          </p:nvPr>
        </p:nvSpPr>
        <p:spPr>
          <a:xfrm>
            <a:off x="-2005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êu đề">
  <p:cSld name="1_Tiêu đề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8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28"/>
          <p:cNvSpPr/>
          <p:nvPr/>
        </p:nvSpPr>
        <p:spPr>
          <a:xfrm rot="10800000">
            <a:off x="-1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8"/>
          <p:cNvSpPr/>
          <p:nvPr/>
        </p:nvSpPr>
        <p:spPr>
          <a:xfrm rot="10800000">
            <a:off x="0" y="0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8" name="Google Shape;478;p28"/>
          <p:cNvGrpSpPr/>
          <p:nvPr/>
        </p:nvGrpSpPr>
        <p:grpSpPr>
          <a:xfrm>
            <a:off x="58527" y="40944"/>
            <a:ext cx="2869771" cy="1563379"/>
            <a:chOff x="44879" y="27296"/>
            <a:chExt cx="2869771" cy="1563379"/>
          </a:xfrm>
        </p:grpSpPr>
        <p:cxnSp>
          <p:nvCxnSpPr>
            <p:cNvPr id="479" name="Google Shape;479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0" name="Google Shape;480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1" name="Google Shape;481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flat" cmpd="sng" w="38100">
              <a:solidFill>
                <a:srgbClr val="00C6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82" name="Google Shape;482;p28"/>
          <p:cNvSpPr/>
          <p:nvPr/>
        </p:nvSpPr>
        <p:spPr>
          <a:xfrm>
            <a:off x="11476383" y="6241089"/>
            <a:ext cx="715617" cy="616911"/>
          </a:xfrm>
          <a:prstGeom prst="triangle">
            <a:avLst>
              <a:gd fmla="val 100000" name="adj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3" name="Google Shape;483;p28"/>
          <p:cNvGrpSpPr/>
          <p:nvPr/>
        </p:nvGrpSpPr>
        <p:grpSpPr>
          <a:xfrm rot="10800000">
            <a:off x="9263702" y="5253677"/>
            <a:ext cx="2869771" cy="1563379"/>
            <a:chOff x="44879" y="27296"/>
            <a:chExt cx="2869771" cy="1563379"/>
          </a:xfrm>
        </p:grpSpPr>
        <p:cxnSp>
          <p:nvCxnSpPr>
            <p:cNvPr id="484" name="Google Shape;484;p28"/>
            <p:cNvCxnSpPr/>
            <p:nvPr/>
          </p:nvCxnSpPr>
          <p:spPr>
            <a:xfrm rot="10800000">
              <a:off x="766351" y="34631"/>
              <a:ext cx="2148299" cy="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28"/>
            <p:cNvCxnSpPr/>
            <p:nvPr/>
          </p:nvCxnSpPr>
          <p:spPr>
            <a:xfrm flipH="1">
              <a:off x="44879" y="27296"/>
              <a:ext cx="737495" cy="644210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28"/>
            <p:cNvCxnSpPr/>
            <p:nvPr/>
          </p:nvCxnSpPr>
          <p:spPr>
            <a:xfrm rot="10800000">
              <a:off x="52214" y="654128"/>
              <a:ext cx="0" cy="936547"/>
            </a:xfrm>
            <a:prstGeom prst="straightConnector1">
              <a:avLst/>
            </a:prstGeom>
            <a:noFill/>
            <a:ln cap="rnd" cmpd="sng" w="38100">
              <a:solidFill>
                <a:srgbClr val="00C6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7" name="Google Shape;487;p28"/>
          <p:cNvSpPr/>
          <p:nvPr/>
        </p:nvSpPr>
        <p:spPr>
          <a:xfrm flipH="1">
            <a:off x="5441009" y="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 flipH="1" rot="10800000">
            <a:off x="0" y="6553200"/>
            <a:ext cx="6750991" cy="304800"/>
          </a:xfrm>
          <a:custGeom>
            <a:rect b="b" l="l" r="r" t="t"/>
            <a:pathLst>
              <a:path extrusionOk="0" h="304800" w="6750991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lipart, vector graphics&#10;&#10;Description automatically generated" id="489" name="Google Shape;4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8" y="362637"/>
            <a:ext cx="544288" cy="45021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8"/>
          <p:cNvSpPr txBox="1"/>
          <p:nvPr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1400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11924591" y="6583140"/>
            <a:ext cx="233916" cy="2339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8"/>
          <p:cNvSpPr txBox="1"/>
          <p:nvPr>
            <p:ph idx="12" type="sldNum"/>
          </p:nvPr>
        </p:nvSpPr>
        <p:spPr>
          <a:xfrm>
            <a:off x="11894359" y="6566401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spcBef>
                <a:spcPts val="0"/>
              </a:spcBef>
              <a:buNone/>
              <a:def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493" name="Google Shape;493;p28"/>
          <p:cNvSpPr txBox="1"/>
          <p:nvPr>
            <p:ph idx="1" type="body"/>
          </p:nvPr>
        </p:nvSpPr>
        <p:spPr>
          <a:xfrm>
            <a:off x="1850807" y="2208158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b="1" sz="4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28"/>
          <p:cNvSpPr txBox="1"/>
          <p:nvPr>
            <p:ph idx="2" type="body"/>
          </p:nvPr>
        </p:nvSpPr>
        <p:spPr>
          <a:xfrm>
            <a:off x="876991" y="3039455"/>
            <a:ext cx="10438019" cy="459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46"/>
              </a:buClr>
              <a:buSzPts val="2000"/>
              <a:buNone/>
              <a:defRPr b="1" sz="2000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28"/>
          <p:cNvSpPr txBox="1"/>
          <p:nvPr>
            <p:ph idx="3" type="body"/>
          </p:nvPr>
        </p:nvSpPr>
        <p:spPr>
          <a:xfrm>
            <a:off x="4680970" y="4963048"/>
            <a:ext cx="2830058" cy="345005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28"/>
          <p:cNvSpPr txBox="1"/>
          <p:nvPr>
            <p:ph idx="4" type="body"/>
          </p:nvPr>
        </p:nvSpPr>
        <p:spPr>
          <a:xfrm>
            <a:off x="1850807" y="3630811"/>
            <a:ext cx="8490387" cy="644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200"/>
              <a:buNone/>
              <a:defRPr sz="12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28"/>
          <p:cNvSpPr txBox="1"/>
          <p:nvPr>
            <p:ph idx="10" type="dt"/>
          </p:nvPr>
        </p:nvSpPr>
        <p:spPr>
          <a:xfrm>
            <a:off x="6767806" y="6476999"/>
            <a:ext cx="2495896" cy="236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  <a:defRPr b="1" i="0" sz="4000" u="none" cap="none" strike="noStrik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"/>
          <p:cNvSpPr txBox="1"/>
          <p:nvPr>
            <p:ph idx="11" type="ftr"/>
          </p:nvPr>
        </p:nvSpPr>
        <p:spPr>
          <a:xfrm>
            <a:off x="2353680" y="6480629"/>
            <a:ext cx="4288103" cy="236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03" name="Google Shape;503;p1"/>
          <p:cNvSpPr txBox="1"/>
          <p:nvPr>
            <p:ph idx="12" type="sldNum"/>
          </p:nvPr>
        </p:nvSpPr>
        <p:spPr>
          <a:xfrm>
            <a:off x="75604" y="658755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504" name="Google Shape;504;p1"/>
          <p:cNvSpPr txBox="1"/>
          <p:nvPr>
            <p:ph idx="1" type="body"/>
          </p:nvPr>
        </p:nvSpPr>
        <p:spPr>
          <a:xfrm>
            <a:off x="1916121" y="1483760"/>
            <a:ext cx="8490387" cy="696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ct val="100000"/>
              <a:buNone/>
            </a:pPr>
            <a:r>
              <a:rPr lang="vi-VN"/>
              <a:t>TRÍ TUỆ NHÂN TẠO CHO HỆ THỐNG NHÚNG</a:t>
            </a:r>
            <a:endParaRPr/>
          </a:p>
        </p:txBody>
      </p:sp>
      <p:sp>
        <p:nvSpPr>
          <p:cNvPr id="505" name="Google Shape;505;p1"/>
          <p:cNvSpPr txBox="1"/>
          <p:nvPr>
            <p:ph idx="2" type="body"/>
          </p:nvPr>
        </p:nvSpPr>
        <p:spPr>
          <a:xfrm>
            <a:off x="876991" y="2400301"/>
            <a:ext cx="104379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46"/>
              </a:buClr>
              <a:buSzPts val="2800"/>
              <a:buNone/>
            </a:pPr>
            <a:r>
              <a:rPr sz="2400"/>
              <a:t>CẢNH BÁO SỚM BẤT THƯỜNG THIẾT BỊ QUAY BẰNG HỌC SÂU TÁI TẠO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2400"/>
              <a:t>trên dữ liệu giám sát rung công nghiệp, triển khai trên ESP32-S3</a:t>
            </a:r>
          </a:p>
        </p:txBody>
      </p:sp>
      <p:sp>
        <p:nvSpPr>
          <p:cNvPr id="506" name="Google Shape;506;p1"/>
          <p:cNvSpPr txBox="1"/>
          <p:nvPr/>
        </p:nvSpPr>
        <p:spPr>
          <a:xfrm>
            <a:off x="1916121" y="3513309"/>
            <a:ext cx="9144000" cy="17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GVHD: ThS. Phan Đình Duy</a:t>
            </a:r>
            <a:endParaRPr b="1" sz="2800">
              <a:solidFill>
                <a:srgbClr val="000046"/>
              </a:solidFill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800"/>
              <a:t>Trương Ngọc Sơn – 25210183</a:t>
            </a:r>
          </a:p>
          <a:p>
            <a:pPr/>
            <a:r>
              <a:rPr sz="1800"/>
              <a:t>Trần Tín Nghĩa – 25210147</a:t>
            </a:r>
          </a:p>
          <a:p>
            <a:pPr/>
            <a:r>
              <a:rPr sz="1800"/>
              <a:t>Hồ Thị Mỹ Phương – 25210170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"/>
          <p:cNvSpPr txBox="1"/>
          <p:nvPr>
            <p:ph idx="11" type="ftr"/>
          </p:nvPr>
        </p:nvSpPr>
        <p:spPr>
          <a:xfrm>
            <a:off x="3465443" y="6466114"/>
            <a:ext cx="5261114" cy="255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512" name="Google Shape;512;p2"/>
          <p:cNvSpPr txBox="1"/>
          <p:nvPr>
            <p:ph idx="12" type="sldNum"/>
          </p:nvPr>
        </p:nvSpPr>
        <p:spPr>
          <a:xfrm>
            <a:off x="11900400" y="6566400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513" name="Google Shape;513;p2"/>
          <p:cNvSpPr txBox="1"/>
          <p:nvPr>
            <p:ph idx="1" type="body"/>
          </p:nvPr>
        </p:nvSpPr>
        <p:spPr>
          <a:xfrm>
            <a:off x="2735144" y="1286346"/>
            <a:ext cx="6721714" cy="4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marL="5143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sz="2400"/>
              <a:t>TỔNG QUAN ĐỀ TÀI</a:t>
            </a:r>
            <a:endParaRPr/>
          </a:p>
          <a:p>
            <a:pPr/>
            <a:r>
              <a:rPr sz="2400"/>
              <a:t>CƠ SỞ LÝ THUYẾT</a:t>
            </a:r>
          </a:p>
          <a:p>
            <a:pPr/>
            <a:r>
              <a:rPr sz="2400"/>
              <a:t>PHÂN TÍCH VÀ THIẾT KẾ HỆ THỐNG</a:t>
            </a:r>
          </a:p>
          <a:p>
            <a:pPr/>
            <a:r>
              <a:rPr sz="2400"/>
              <a:t>KẾT QUẢ THỰC NGHIỆM</a:t>
            </a:r>
          </a:p>
          <a:p>
            <a:pPr/>
            <a:r>
              <a:rPr sz="2400"/>
              <a:t>KẾT LUẬN VÀ HƯỚNG PHÁT TRIỂN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2"/>
          <p:cNvSpPr txBox="1"/>
          <p:nvPr>
            <p:ph idx="11" type="ftr"/>
          </p:nvPr>
        </p:nvSpPr>
        <p:spPr>
          <a:xfrm>
            <a:off x="3684104" y="6481647"/>
            <a:ext cx="4823792" cy="239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Trường Đại học Công nghệ Thông tin, ĐHQG-HCM</a:t>
            </a:r>
            <a:endParaRPr/>
          </a:p>
        </p:txBody>
      </p:sp>
      <p:sp>
        <p:nvSpPr>
          <p:cNvPr id="600" name="Google Shape;600;p12"/>
          <p:cNvSpPr txBox="1"/>
          <p:nvPr>
            <p:ph idx="12" type="sldNum"/>
          </p:nvPr>
        </p:nvSpPr>
        <p:spPr>
          <a:xfrm>
            <a:off x="11897699" y="6560242"/>
            <a:ext cx="291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sp>
        <p:nvSpPr>
          <p:cNvPr id="601" name="Google Shape;601;p12"/>
          <p:cNvSpPr txBox="1"/>
          <p:nvPr/>
        </p:nvSpPr>
        <p:spPr>
          <a:xfrm>
            <a:off x="4343213" y="1735130"/>
            <a:ext cx="4012558" cy="110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4000"/>
              <a:buFont typeface="Times New Roman"/>
              <a:buNone/>
            </a:pPr>
            <a:r>
              <a:rPr b="1" lang="vi-VN" sz="400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HỎI VÀ ĐÁP</a:t>
            </a:r>
            <a:endParaRPr b="1" sz="4000">
              <a:solidFill>
                <a:srgbClr val="0072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://data.sinhvienit.net/2013/T09/img/SinhVienIT.Net---suy-nghi.jpg" id="602" name="Google Shape;6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842" y="3018931"/>
            <a:ext cx="3211551" cy="2408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TỔNG QUAN ĐỀ TÀI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400" b="1"/>
              <a:t>Bài toán:</a:t>
            </a:r>
          </a:p>
          <a:p>
            <a:pPr lvl="1"/>
            <a:r>
              <a:rPr sz="1200"/>
              <a:t>Bảo trì theo ngưỡng cố định: phát hiện muộn, không có dữ liệu hỏng gán nhãn, tải lẫn với hư hỏng</a:t>
            </a:r>
          </a:p>
          <a:p>
            <a:pPr lvl="1"/>
            <a:r>
              <a:rPr sz="1200"/>
              <a:t>Câu hỏi khác: máy còn giống lúc vận hành ổn định không, và đang rời xa nhanh đến đâu?</a:t>
            </a:r>
          </a:p>
          <a:p>
            <a:pPr/>
            <a:r>
              <a:rPr sz="1400" b="1"/>
              <a:t>Đối tượng:</a:t>
            </a:r>
          </a:p>
          <a:p>
            <a:pPr lvl="1"/>
            <a:r>
              <a:rPr sz="1200"/>
              <a:t>Bơm cấp nước lò hơi P29201A, Nhà máy Đạm Cà Mau; 4 ổ đỡ × 2 đầu đo (X, Y) = 8 kênh rung 1X (biên độ, pha) và Direct</a:t>
            </a:r>
          </a:p>
          <a:p>
            <a:pPr lvl="1"/>
            <a:r>
              <a:rPr sz="1200"/>
              <a:t>Ngưỡng nhà máy 65 µm peak-to-peak; hai lần dừng tháo kiểm tra 04/01 và 29/05/2026 để đo lead-time</a:t>
            </a:r>
          </a:p>
          <a:p>
            <a:pPr/>
            <a:r>
              <a:rPr sz="1400"/>
              <a:t>Tham chiếu: Gribbestad và cộng sự, Entropy 2021 [1]: học sâu tái tạo, train chỉ trên dữ liệu bình thường</a:t>
            </a:r>
          </a:p>
        </p:txBody>
      </p:sp>
      <p:pic>
        <p:nvPicPr>
          <p:cNvPr id="4" name="Picture 3" descr="P29201A 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73" y="1583835"/>
            <a:ext cx="6237261" cy="32133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Mục tiêu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600"/>
              <a:t>1. Kho đặc trưng 1X 8 kênh, bước 10 phút, trên toàn chuỗi 28/09/2025 → 02/09/2026</a:t>
            </a:r>
          </a:p>
          <a:p>
            <a:pPr/>
            <a:r>
              <a:rPr sz="1600"/>
              <a:t>2. Chọn nền gốc bằng thước ổn định của cả hệ 8 kênh; chia dữ liệu theo vai trò, không tham số nào chọn trên dữ liệu đánh giá</a:t>
            </a:r>
          </a:p>
          <a:p>
            <a:pPr/>
            <a:r>
              <a:rPr sz="1600"/>
              <a:t>3. Bảy họ mô hình tái tạo (PCA, AE, SAE, VAE, DBN, ED-LSTM, ED-CNN) qua cùng giao thức kiểm tra chéo theo khối</a:t>
            </a:r>
          </a:p>
          <a:p>
            <a:pPr/>
            <a:r>
              <a:rPr sz="1600"/>
              <a:t>4. Luật theo tốc độ thay đổi, ngưỡng chỉnh trên đoạn âm và khóa trước khi kiểm mù; ba tầng cảnh báo; đo lead-time trước hai mốc dừng thật</a:t>
            </a:r>
          </a:p>
          <a:p>
            <a:pPr/>
            <a:r>
              <a:rPr sz="1600"/>
              <a:t>5. Lớp giải thích: đóng góp từng kênh chỉ ra ổ đỡ đang suy giảm, dịch sang cơ chế cơ học theo ISO 13373</a:t>
            </a:r>
          </a:p>
          <a:p>
            <a:pPr/>
            <a:r>
              <a:rPr sz="1600"/>
              <a:t>6. Lượng tử hóa sang số nguyên, viết lại ba tầng bằng C, kiểm chứng cùng ngày báo với Python, biên dịch cho ESP32-S3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500" b="1"/>
              <a:t>Học sâu tái tạo [1]:</a:t>
            </a:r>
          </a:p>
          <a:p>
            <a:pPr lvl="1"/>
            <a:r>
              <a:rPr sz="1300"/>
              <a:t>Huấn luyện chỉ trên dữ liệu bình thường, không nhãn</a:t>
            </a:r>
          </a:p>
          <a:p>
            <a:pPr lvl="1"/>
            <a:r>
              <a:rPr sz="1300"/>
              <a:t>Sai số tái tạo SPE = Σ(x − x̂)² làm chỉ số bất thường</a:t>
            </a:r>
          </a:p>
          <a:p>
            <a:pPr lvl="1"/>
            <a:r>
              <a:rPr sz="1300"/>
              <a:t>Đóng góp từng cảm biến để giải thích</a:t>
            </a:r>
          </a:p>
          <a:p>
            <a:pPr lvl="1"/>
            <a:r>
              <a:rPr sz="1300"/>
              <a:t>Sáu kiến trúc: AE, SAE, VAE, DBN, ED-LSTM, ED-CNN</a:t>
            </a:r>
          </a:p>
          <a:p>
            <a:pPr/>
            <a:r>
              <a:rPr sz="1500" b="1"/>
              <a:t>Ba điểm yếu [1] tự nhận:</a:t>
            </a:r>
          </a:p>
          <a:p>
            <a:pPr lvl="1"/>
            <a:r>
              <a:rPr sz="1300"/>
              <a:t>Ngưỡng 40/60 và sigmoid chỉnh tay</a:t>
            </a:r>
          </a:p>
          <a:p>
            <a:pPr lvl="1"/>
            <a:r>
              <a:rPr sz="1300"/>
              <a:t>Không có hàm chấm điểm để chọn kiến trúc</a:t>
            </a:r>
          </a:p>
          <a:p>
            <a:pPr lvl="1"/>
            <a:r>
              <a:rPr sz="1300"/>
              <a:t>Chỉ trả lời “có gì đó sai”, không trả lời “sai ở đâu” và “khi nào hỏng”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500" b="1"/>
              <a:t>Chẩn đoán rung theo bậc tốc độ quay (ISO 13373 [4]):</a:t>
            </a:r>
          </a:p>
          <a:p>
            <a:pPr lvl="1"/>
            <a:r>
              <a:rPr sz="1300"/>
              <a:t>0,5X: xoáy dầu (oil whirl)</a:t>
            </a:r>
          </a:p>
          <a:p>
            <a:pPr lvl="1"/>
            <a:r>
              <a:rPr sz="1300"/>
              <a:t>1X: mất cân bằng; pha giữ → điểm nặng cố định, pha quay dần → điểm nặng di chuyển</a:t>
            </a:r>
          </a:p>
          <a:p>
            <a:pPr lvl="1"/>
            <a:r>
              <a:rPr sz="1300"/>
              <a:t>2X: lệch trục</a:t>
            </a:r>
          </a:p>
          <a:p>
            <a:pPr lvl="1"/>
            <a:r>
              <a:rPr sz="1300"/>
              <a:t>Tần số không đồng bộ dải rộng: hỏng vòng bi</a:t>
            </a:r>
          </a:p>
          <a:p>
            <a:pPr/>
            <a:r>
              <a:rPr sz="1500" b="1"/>
              <a:t>Giới hạn kiểm soát thống kê:</a:t>
            </a:r>
          </a:p>
          <a:p>
            <a:pPr lvl="1"/>
            <a:r>
              <a:rPr sz="1300"/>
              <a:t>Giới hạn 99% của SPE ngoài mẫu (Jackson–Mudholkar [2])</a:t>
            </a:r>
          </a:p>
          <a:p>
            <a:pPr lvl="1"/>
            <a:r>
              <a:rPr sz="1300"/>
              <a:t>Ngưỡng tuyệt đối theo ISO 20816 [3] là hướng mở rộng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CƠ SỞ LÝ THUYẾT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THIẾT KẾ – 3.1 Kiến trúc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400"/>
              <a:t>Nguồn đo: System 1 (1X Amp/Phase, Direct) → PI Data Archive</a:t>
            </a:r>
          </a:p>
          <a:p>
            <a:pPr/>
            <a:r>
              <a:rPr sz="1400"/>
              <a:t>Tầng dữ liệu: cổng lọc máy chạy, thống nhất tham chiếu pha, kho đặc trưng 24 chiều</a:t>
            </a:r>
          </a:p>
          <a:p>
            <a:pPr/>
            <a:r>
              <a:rPr sz="1400"/>
              <a:t>Tầng mô hình: nền gốc 9b → 5 khối chéo → bảy họ → SAE 3.600 tham số</a:t>
            </a:r>
          </a:p>
          <a:p>
            <a:pPr/>
            <a:r>
              <a:rPr sz="1400"/>
              <a:t>Ba tầng cảnh báo: A ngoại suy tới 65 µm; B tốc độ lệch khỏi nền; C chữ ký hình dạng hệ</a:t>
            </a:r>
          </a:p>
          <a:p>
            <a:pPr/>
            <a:r>
              <a:rPr sz="1400"/>
              <a:t>Thiết bị biên: SAE int16/int8 + ba tầng bằng C99 trên ESP32-S3, mỗi 10 phút</a:t>
            </a:r>
          </a:p>
        </p:txBody>
      </p:sp>
      <p:pic>
        <p:nvPicPr>
          <p:cNvPr id="4" name="Picture 3" descr="hinh-kien-truc-tong-t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73" y="953494"/>
            <a:ext cx="6237261" cy="44740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Dữ liệu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/>
              <a:t>42.064 mẫu 10 phút sau cổng lọc, 28/09/2025 → 02/09/2026; 7.129 giờ Direct</a:t>
            </a:r>
          </a:p>
          <a:p>
            <a:pPr/>
            <a:r>
              <a:rPr sz="1300" b="1"/>
              <a:t>Vai trò từng đoạn:</a:t>
            </a:r>
          </a:p>
          <a:p>
            <a:pPr lvl="1"/>
            <a:r>
              <a:rPr sz="1200"/>
              <a:t>Đoạn 7, 8, 9a: đoạn âm, hệ không được báo</a:t>
            </a:r>
          </a:p>
          <a:p>
            <a:pPr lvl="1"/>
            <a:r>
              <a:rPr sz="1200"/>
              <a:t>9b (20/02–22/03/2026): nền gốc, huấn luyện</a:t>
            </a:r>
          </a:p>
          <a:p>
            <a:pPr lvl="1"/>
            <a:r>
              <a:rPr sz="1200"/>
              <a:t>9c: đợt leo tới dừng 2; nửa đầu chỉnh ngưỡng, nửa sau kiểm trước</a:t>
            </a:r>
          </a:p>
          <a:p>
            <a:pPr lvl="1"/>
            <a:r>
              <a:rPr sz="1200"/>
              <a:t>Đoạn 11: kiểm mù, chạy một lần sau khi khóa</a:t>
            </a:r>
          </a:p>
          <a:p>
            <a:pPr/>
            <a:r>
              <a:rPr sz="1300"/>
              <a:t>Chọn 9b: dốc biên độ 2,0 %/tháng thấp nhất, trôi pha 4,4 °/tháng, mức 2001X 17,5 µm thấp nhất</a:t>
            </a:r>
          </a:p>
        </p:txBody>
      </p:sp>
      <p:pic>
        <p:nvPicPr>
          <p:cNvPr id="4" name="Picture 3" descr="hinh-chon-nen-goc-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73" y="1527037"/>
            <a:ext cx="6237261" cy="33269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Đặc trưng và mô hình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500"/>
              <a:t>Đầu vào 24 chiều: 8 biên độ 1X chuẩn hóa theo nền + 8 sin + 8 cos của pha</a:t>
            </a:r>
          </a:p>
          <a:p>
            <a:pPr/>
            <a:r>
              <a:rPr sz="1500"/>
              <a:t>Bảy họ mô hình, 27 cấu hình (mô hình ngẫu nhiên: 3 lần khởi tạo); không loại kiến trúc nào trước bằng lý lẽ</a:t>
            </a:r>
          </a:p>
          <a:p>
            <a:pPr/>
            <a:r>
              <a:rPr sz="1500"/>
              <a:t>Giao thức năm khối ba vai: nền 9b chia 5 khối ≈ 6 ngày, đệm 12 giờ; mỗi fold 1 khối kiểm tra, 1 khối dừng sớm, 3 khối huấn luyện</a:t>
            </a:r>
          </a:p>
          <a:p>
            <a:pPr/>
            <a:r>
              <a:rPr sz="1500" b="1"/>
              <a:t>Bốn tiêu chí chọn:</a:t>
            </a:r>
          </a:p>
          <a:p>
            <a:pPr lvl="1"/>
            <a:r>
              <a:rPr sz="1400"/>
              <a:t>Ổn định giữa các khối nền: báo giả trung bình ≤ 3 %, lớn nhất ≤ 10 %</a:t>
            </a:r>
          </a:p>
          <a:p>
            <a:pPr lvl="1"/>
            <a:r>
              <a:rPr sz="1400"/>
              <a:t>Tách được: tỉ số SPE đợt leo / nền ≥ 1,3</a:t>
            </a:r>
          </a:p>
          <a:p>
            <a:pPr lvl="1"/>
            <a:r>
              <a:rPr sz="1400"/>
              <a:t>Lead-time đo được thật trước mốc dừng, không tính ngày báo bị giới hạn</a:t>
            </a:r>
          </a:p>
          <a:p>
            <a:pPr lvl="1"/>
            <a:r>
              <a:rPr sz="1400"/>
              <a:t>Giải thích đúng ổ đang thay đổi</a:t>
            </a:r>
          </a:p>
          <a:p>
            <a:pPr/>
            <a:r>
              <a:rPr sz="1500"/>
              <a:t>Sai số tái tạo nhỏ nhất không phải tiêu chí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Ba tầng cảnh báo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4145" y="1400000"/>
          <a:ext cx="10579653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486"/>
                <a:gridCol w="1824078"/>
                <a:gridCol w="2918525"/>
                <a:gridCol w="3830564"/>
              </a:tblGrid>
              <a:tr h="750000">
                <a:tc>
                  <a:txBody>
                    <a:bodyPr/>
                    <a:lstStyle/>
                    <a:p>
                      <a:r>
                        <a:rPr sz="1300" b="1"/>
                        <a:t>Tầng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Trục 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Cách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Quy tắc báo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rPr sz="1200" b="0"/>
                        <a:t>A · Ngoại suy tới ngưỡng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Direct 8 kênh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Hồi quy 14 ngày chạy, ngoại suy tới 65 µm, cận dưới 90 %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Kênh leo &gt; 1,10 × trung vị 90 ngày, dốc có ý nghĩa, còn &lt; 30 ngày, giữ 2 ngày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rPr sz="1200" b="0"/>
                        <a:t>B · Tốc độ lệch khỏi nền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SPE so nền gốc 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Dốc log SPE 14 ngày và 45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τ₁₄ = 0,135 (3 ngày liên tiếp); τ₄₅ = 0,035 (5 ngày)</a:t>
                      </a:r>
                    </a:p>
                  </a:txBody>
                  <a:tcPr/>
                </a:tc>
              </a:tr>
              <a:tr h="750000">
                <a:tc>
                  <a:txBody>
                    <a:bodyPr/>
                    <a:lstStyle/>
                    <a:p>
                      <a:r>
                        <a:rPr sz="1200" b="0"/>
                        <a:t>C · Chữ ký hình dạng hệ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Pha 1X 8 kênh theo tuần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Trung bình tròn, tốc độ quay pha 4 tuần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Đổi chiều quay ổ 2001X so 8 tuần trước, sd &lt; 5°, giữ 2 tuần → “cần xem”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4145" y="4600000"/>
            <a:ext cx="10579654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/>
              <a:t>Lead-time = ngày tầng báo lần đầu → ngày nhà máy dừng; đo riêng từng tầng, cho cả hai lần dừng</a:t>
            </a:r>
          </a:p>
          <a:p>
            <a:pPr/>
            <a:r>
              <a:rPr sz="1400"/>
              <a:t>Ngưỡng chỉnh trên đoạn âm và nửa đầu 9c, khóa kèm mã kiểm tra; đoạn 11 kiểm mù chạy đúng một lần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Thiết kế nhúng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500"/>
              <a:t>Thiết bị: ESP32-S3 DevKitC (2 lõi 240 MHz, 512 KB RAM, 16 MB flash)</a:t>
            </a:r>
          </a:p>
          <a:p>
            <a:pPr/>
            <a:r>
              <a:rPr sz="1500"/>
              <a:t>Mã C99 thuần, không thư viện, không cấp phát động; dùng chung cho bộ mô phỏng máy tính và firmware</a:t>
            </a:r>
          </a:p>
          <a:p>
            <a:pPr/>
            <a:r>
              <a:rPr sz="1500"/>
              <a:t>Không huấn luyện lại, không đổi ngưỡng; mọi hằng số sinh tự động từ file đã khóa kèm mã kiểm tra</a:t>
            </a:r>
          </a:p>
          <a:p>
            <a:pPr/>
            <a:r>
              <a:rPr sz="1500" b="1"/>
              <a:t>Chỉ tiêu chấp nhận:</a:t>
            </a:r>
          </a:p>
          <a:p>
            <a:pPr lvl="1"/>
            <a:r>
              <a:rPr sz="1400"/>
              <a:t>Ngày báo B₁₄/B₄₅/A/C trùng 100 % với Python trên toàn chuỗi phát lại</a:t>
            </a:r>
          </a:p>
          <a:p>
            <a:pPr lvl="1"/>
            <a:r>
              <a:rPr sz="1400"/>
              <a:t>SPE lệch ≤ 5 % ở vùng có ý nghĩa; ở nền chỉ cần không đổi ngày báo</a:t>
            </a:r>
          </a:p>
          <a:p>
            <a:pPr lvl="1"/>
            <a:r>
              <a:rPr sz="1400"/>
              <a:t>&lt; 32 KB flash hằng số, &lt; 16 KB RAM trạng thái</a:t>
            </a:r>
          </a:p>
          <a:p>
            <a:pPr/>
            <a:r>
              <a:rPr sz="1500"/>
              <a:t>Sơ đồ lượng tử hóa chọn bằng phép đo: phương án nào làm mất một ngày báo là loại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KẾT QUẢ – 4.1 Bảy họ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/>
              <a:t>Ngưỡng tốc độ chung τ = 0,135/ngày chỉnh trên 16/27 cấu hình đạt tiêu chí 1–2</a:t>
            </a:r>
          </a:p>
          <a:p>
            <a:pPr/>
            <a:r>
              <a:rPr sz="1300"/>
              <a:t>Không cấu hình nào báo trên đoạn 7, 8, 9a</a:t>
            </a:r>
          </a:p>
          <a:p>
            <a:pPr/>
            <a:r>
              <a:rPr sz="1300"/>
              <a:t>SAE 3.600 tham số: báo 06/04, 53 ngày trước dừng 2; ổn định 0,01–0,02 / 0,05; tách 1.140–1.296; ổ 2001 chiếm 97 % đóng góp</a:t>
            </a:r>
          </a:p>
          <a:p>
            <a:pPr/>
            <a:r>
              <a:rPr sz="1300"/>
              <a:t>PCA k = 8 báo 25/03 nhưng bị giới hạn bởi ngày sớm nhất có thể báo; PCA k = 6 không đạt tiêu chí ổn định (27 %)</a:t>
            </a:r>
          </a:p>
          <a:p>
            <a:pPr/>
            <a:r>
              <a:rPr sz="1300"/>
              <a:t>Kiểm mù đoạn 11: 0 báo giả; đợt leo chậm 19/07 không mô hình nào báo (dốc 0,035–0,045 &lt; τ)</a:t>
            </a:r>
          </a:p>
          <a:p>
            <a:pPr/>
            <a:r>
              <a:rPr sz="1300"/>
              <a:t>Quyết định: tầng B dùng SAE; thêm thang 45 ngày</a:t>
            </a:r>
          </a:p>
        </p:txBody>
      </p:sp>
      <p:pic>
        <p:nvPicPr>
          <p:cNvPr id="4" name="Picture 3" descr="hinh-so-sanh-7-mo-h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73" y="2205184"/>
            <a:ext cx="6237261" cy="19706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Ba tầng cảnh báo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300"/>
              <a:t>Dừng 1 (04/01/2026): không tầng nào báo, đúng kỳ vọng ghi trước</a:t>
            </a:r>
          </a:p>
          <a:p>
            <a:pPr/>
            <a:r>
              <a:rPr sz="1300" b="1"/>
              <a:t>Dừng 2 (29/05/2026):</a:t>
            </a:r>
          </a:p>
          <a:p>
            <a:pPr lvl="1"/>
            <a:r>
              <a:rPr sz="1200"/>
              <a:t>B₁₄: 06/04 → 53 ngày</a:t>
            </a:r>
          </a:p>
          <a:p>
            <a:pPr lvl="1"/>
            <a:r>
              <a:rPr sz="1200"/>
              <a:t>B₄₅: 11/04 → 48 ngày, giữ báo 25/29 ngày tháng 5</a:t>
            </a:r>
          </a:p>
          <a:p>
            <a:pPr lvl="1"/>
            <a:r>
              <a:rPr sz="1200"/>
              <a:t>A: 29/04 → 30 ngày, do ổ 2003Y, hợp lệ theo luật</a:t>
            </a:r>
          </a:p>
          <a:p>
            <a:pPr lvl="1"/>
            <a:r>
              <a:rPr sz="1200"/>
              <a:t>C: không báo (một tuần có dấu hiệu)</a:t>
            </a:r>
          </a:p>
          <a:p>
            <a:pPr/>
            <a:r>
              <a:rPr sz="1300"/>
              <a:t>Đoạn âm: 0 báo ở A, B₁₄, B₄₅; C 1 tuần trong 21 ngày sau tháo lắp</a:t>
            </a:r>
          </a:p>
          <a:p>
            <a:pPr/>
            <a:r>
              <a:rPr sz="1300"/>
              <a:t>Kiểm mù đoạn 11: 0 báo giả; đợt leo chậm chưa tầng nào báo; A chưa kiểm được (Direct tới 21/07)</a:t>
            </a:r>
          </a:p>
        </p:txBody>
      </p:sp>
      <p:pic>
        <p:nvPicPr>
          <p:cNvPr id="4" name="Picture 3" descr="hinh-ba-tang-toan-chu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73" y="1039405"/>
            <a:ext cx="6237261" cy="43022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Đối chiếu chỉ tiêu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4145" y="1300000"/>
          <a:ext cx="10579653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360"/>
                <a:gridCol w="2885360"/>
                <a:gridCol w="4808933"/>
              </a:tblGrid>
              <a:tr h="537500">
                <a:tc>
                  <a:txBody>
                    <a:bodyPr/>
                    <a:lstStyle/>
                    <a:p>
                      <a:r>
                        <a:rPr sz="1300" b="1"/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Mong đợi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Kết quả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Ổn định giữa các khối nền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báo giả TB ≤ 3 %, lớn nhất ≤ 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SAE 0,01–0,02 / 0,05; 16/27 cấu hình đạt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Không báo trên đoạn âm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 ở cả bốn tầng (C: 1 tuần sau tháo lắp, tách riêng)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Lead-time trước quyết định dừng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đo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53 ngày (B₁₄), 48 (B₄₅), 30 (A) trước 29/05; dừng 1 không báo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Kiểm mù: bình nguyên / leo chậm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 báo giả / bắt được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 báo giả / chưa bắt được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Lớp giải thích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chỉ đúng 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ổ 2001 chiếm 97 % đóng góp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Nhúng: tương đương 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ngày báo trùng 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trùng 100 % cả bốn tầng</a:t>
                      </a:r>
                    </a:p>
                  </a:txBody>
                  <a:tcPr/>
                </a:tc>
              </a:tr>
              <a:tr h="537500">
                <a:tc>
                  <a:txBody>
                    <a:bodyPr/>
                    <a:lstStyle/>
                    <a:p>
                      <a:r>
                        <a:rPr sz="1200" b="0"/>
                        <a:t>Nhúng: dung lượng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&lt; 32 KB flash, &lt; 16 KB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13,3 KB flash, 8,3 KB RAM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Trình diễn: phát lại theo ngày và video</a:t>
            </a:r>
          </a:p>
        </p:txBody>
      </p:sp>
      <p:pic>
        <p:nvPicPr>
          <p:cNvPr id="3" name="Picture 2" descr="03-B14-bao-06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45" y="1300000"/>
            <a:ext cx="5200000" cy="2925000"/>
          </a:xfrm>
          <a:prstGeom prst="rect">
            <a:avLst/>
          </a:prstGeom>
        </p:spPr>
      </p:pic>
      <p:pic>
        <p:nvPicPr>
          <p:cNvPr id="4" name="Picture 3" descr="05-tang-A-bao-29-04-2003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00" y="1300000"/>
            <a:ext cx="5200000" cy="292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4145" y="4350000"/>
            <a:ext cx="10579654" cy="1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300"/>
              <a:t>Trang phát lại tự chứa: đứng ở một ngày, chỉ thấy dữ liệu tới ngày đó; bốn đèn A / B₁₄ / B₄₅ / C theo bảng kết quả đã khóa</a:t>
            </a:r>
          </a:p>
          <a:p>
            <a:pPr/>
            <a:r>
              <a:rPr sz="1300"/>
              <a:t>Trái: 06/04, B₁₄ báo khi 2001X còn 25 µm Direct, SPE dưới giới hạn kiểm soát → báo bằng tốc độ, không bằng mức</a:t>
            </a:r>
          </a:p>
          <a:p>
            <a:pPr/>
            <a:r>
              <a:rPr sz="1300"/>
              <a:t>Phải: 29/04, tầng A báo do 2003Y (24 ngày tới 65). Video câm 6 phút quay màn hình thật, 13 mốc chú thích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Lượng tử hóa và nhúng trên ESP32-S3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4145" y="1300000"/>
          <a:ext cx="10579651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717"/>
                <a:gridCol w="1538858"/>
                <a:gridCol w="2115930"/>
                <a:gridCol w="2500645"/>
                <a:gridCol w="1346501"/>
              </a:tblGrid>
              <a:tr h="383333">
                <a:tc>
                  <a:txBody>
                    <a:bodyPr/>
                    <a:lstStyle/>
                    <a:p>
                      <a:r>
                        <a:rPr sz="1300" b="1"/>
                        <a:t>Phương 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Trọng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Sai số SPE nền (p95)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Ngày báo B₁₄ / B₄₅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Kết luận</a:t>
                      </a:r>
                    </a:p>
                  </a:txBody>
                  <a:tcPr/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200" b="0"/>
                        <a:t>Kích hoạt 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loại</a:t>
                      </a:r>
                    </a:p>
                  </a:txBody>
                  <a:tcPr/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200" b="0"/>
                        <a:t>Trọng số int8 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3.456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mất 06/04 / giữ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loại</a:t>
                      </a:r>
                    </a:p>
                  </a:txBody>
                  <a:tcPr/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200" b="0"/>
                        <a:t>Lớp 0 int16, còn lại 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4.032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mất 06/04 / giữ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loại</a:t>
                      </a:r>
                    </a:p>
                  </a:txBody>
                  <a:tcPr/>
                </a:tc>
              </a:tr>
              <a:tr h="383333">
                <a:tc>
                  <a:txBody>
                    <a:bodyPr/>
                    <a:lstStyle/>
                    <a:p>
                      <a:r>
                        <a:rPr sz="1200" b="0"/>
                        <a:t>Lớp 0–1 int16, lớp 2–5 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4.608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5,1 %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giữ nguyên 19 / 49 ngày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chọn</a:t>
                      </a:r>
                    </a:p>
                  </a:txBody>
                  <a:tcPr/>
                </a:tc>
              </a:tr>
              <a:tr h="383335">
                <a:tc>
                  <a:txBody>
                    <a:bodyPr/>
                    <a:lstStyle/>
                    <a:p>
                      <a:r>
                        <a:rPr sz="1200" b="0"/>
                        <a:t>int16 toàn bộ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6.912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2,1 %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giữ / giữ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không cần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4145" y="3750000"/>
            <a:ext cx="10579654" cy="2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/>
              <a:t>Mã C ba tầng đối chiếu Python trên 42.064 mẫu: ngày báo B₁₄, B₄₅ trùng 100 %; tầng A 231/231 hàng trùng; tầng C 47/47 tuần trùng</a:t>
            </a:r>
          </a:p>
          <a:p>
            <a:pPr/>
            <a:r>
              <a:rPr sz="1400"/>
              <a:t>Firmware ESP-IDF 5.3.2: ảnh 294 KB; hằng số mô hình 13,3 KB flash; trạng thái ba tầng 8,3 KB RAM; 3.456 phép nhân-cộng mỗi 10 phút</a:t>
            </a:r>
          </a:p>
          <a:p>
            <a:pPr/>
            <a:r>
              <a:rPr sz="1400"/>
              <a:t>Rà soát và kiểm thử độc lập: suy luận số nguyên trùng từng bit với mô phỏng; ba lỗi mức cao sửa trước khi chốt</a:t>
            </a:r>
          </a:p>
          <a:p>
            <a:pPr/>
            <a:r>
              <a:rPr sz="1400"/>
              <a:t>Chờ bo: đo độ trễ, bộ nhớ động, dòng điện trên thiết bị thật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KẾT LUẬN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500" b="1"/>
              <a:t>Đã đạt, có số đo:</a:t>
            </a:r>
          </a:p>
          <a:p>
            <a:pPr lvl="1"/>
            <a:r>
              <a:rPr sz="1400"/>
              <a:t>Lead-time 53 và 48 ngày (tầng B), 30 ngày (tầng A) trước quyết định dừng thật; dừng 1 không báo, đúng kỳ vọng</a:t>
            </a:r>
          </a:p>
          <a:p>
            <a:pPr lvl="1"/>
            <a:r>
              <a:rPr sz="1400"/>
              <a:t>Không báo giả trên ba đoạn âm và bình nguyên kiểm mù; tham số khóa trước khi chấm</a:t>
            </a:r>
          </a:p>
          <a:p>
            <a:pPr lvl="1"/>
            <a:r>
              <a:rPr sz="1400"/>
              <a:t>Mô hình chọn bằng thực nghiệm có kiểm soát: 27 cấu hình, bảy họ, năm khối chéo → SAE</a:t>
            </a:r>
          </a:p>
          <a:p>
            <a:pPr lvl="1"/>
            <a:r>
              <a:rPr sz="1400"/>
              <a:t>Nhúng được kiểm chứng tương đương: 100 % ngày báo; firmware ESP32-S3 294 KB, 8,3 KB RAM</a:t>
            </a:r>
          </a:p>
          <a:p>
            <a:pPr/>
            <a:r>
              <a:rPr sz="1500" b="1"/>
              <a:t>Giới hạn:</a:t>
            </a:r>
          </a:p>
          <a:p>
            <a:pPr lvl="1"/>
            <a:r>
              <a:rPr sz="1400"/>
              <a:t>Đợt leo chậm từ 19/07 chưa tầng nào báo; tầng A chưa kiểm được vì Direct tới 21/07</a:t>
            </a:r>
          </a:p>
          <a:p>
            <a:pPr lvl="1"/>
            <a:r>
              <a:rPr sz="1400"/>
              <a:t>Một máy, hai mốc dừng tháo kiểm tra; lead-time đo tới quyết định vận hành, không tới hư hỏng xác nhận</a:t>
            </a:r>
          </a:p>
          <a:p>
            <a:pPr lvl="1"/>
            <a:r>
              <a:rPr sz="1400"/>
              <a:t>Firmware chưa lưu trạng thái qua mất điện; chưa có số đo trên bo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Hướng phát triển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600"/>
              <a:t>Nạp firmware lên ESP32-S3, phát lại 42.064 mẫu qua USB, đo độ trễ, bộ nhớ, dòng điện</a:t>
            </a:r>
          </a:p>
          <a:p>
            <a:pPr/>
            <a:r>
              <a:rPr sz="1600"/>
              <a:t>Kéo Direct từ 22/07 và 1X sau 02/09 để kiểm tầng A và luật C trên đợt leo chậm</a:t>
            </a:r>
          </a:p>
          <a:p>
            <a:pPr/>
            <a:r>
              <a:rPr sz="1600"/>
              <a:t>Lưu trạng thái ba tầng vào NVS, gốc tuần cố định, đóng ngày theo đồng hồ</a:t>
            </a:r>
          </a:p>
          <a:p>
            <a:pPr/>
            <a:r>
              <a:rPr sz="1600"/>
              <a:t>Bắt đợt leo chậm: thang 90 ngày hoặc luật mức theo SPE, chỉnh và khóa trên dữ liệu mới</a:t>
            </a:r>
          </a:p>
          <a:p>
            <a:pPr/>
            <a:r>
              <a:rPr sz="1600"/>
              <a:t>Tầng ngưỡng tuyệt đối theo ISO 20816 song song tầng thay đổi</a:t>
            </a:r>
          </a:p>
          <a:p>
            <a:pPr/>
            <a:r>
              <a:rPr sz="1600"/>
              <a:t>Kết nối thật qua Modbus TCP / OPC UA; mở rộng sang cặp bơm song song; đối chứng TensorFlow Lite Micro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Tài liệu tham khảo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400"/>
              <a:t>[1] M. Gribbestad, M. U. Hassan, I. A. Hameed, K. Sundli, “Health Monitoring of Air Compressors Using Reconstruction-Based Deep Learning for Anomaly Detection with Increased Transparency,” Entropy, vol. 23, no. 1, p. 83, 2021.</a:t>
            </a:r>
          </a:p>
          <a:p>
            <a:pPr/>
            <a:r>
              <a:rPr sz="1400"/>
              <a:t>[2] J. E. Jackson, G. S. Mudholkar, “Control Procedures for Residuals Associated with Principal Component Analysis,” Technometrics, vol. 21, no. 3, pp. 341–349, 1979.</a:t>
            </a:r>
          </a:p>
          <a:p>
            <a:pPr/>
            <a:r>
              <a:rPr sz="1400"/>
              <a:t>[3] ISO 20816-1:2016, Mechanical vibration — Measurement and evaluation of machine vibration — Part 1: General guidelines.</a:t>
            </a:r>
          </a:p>
          <a:p>
            <a:pPr/>
            <a:r>
              <a:rPr sz="1400"/>
              <a:t>[4] ISO 13373-3:2015, Condition monitoring and diagnostics of machines — Vibration condition monitoring — Part 3: Guidelines for vibration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2023-03-03T01:55:04Z</dcterms:created>
  <dc:creator>Trần Hoàng Lộc</dc:creator>
</cp:coreProperties>
</file>